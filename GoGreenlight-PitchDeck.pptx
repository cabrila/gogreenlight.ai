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85953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71907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57860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438144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9768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5721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1675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7628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7200"/>
            <a:ext cx="4572000" cy="4572000"/>
          </a:xfrm>
          <a:prstGeom prst="ellipse">
            <a:avLst/>
          </a:prstGeom>
          <a:solidFill>
            <a:srgbClr val="1A3D24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0" y="2743200"/>
            <a:ext cx="3657600" cy="3657600"/>
          </a:xfrm>
          <a:prstGeom prst="ellipse">
            <a:avLst/>
          </a:prstGeom>
          <a:solidFill>
            <a:srgbClr val="2B4A1A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572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GoGreenlight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1645920"/>
            <a:ext cx="94457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78D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Unleash creativity,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78D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exponentially.</a:t>
            </a:r>
            <a:endParaRPr lang="en-US" sz="5600" dirty="0"/>
          </a:p>
        </p:txBody>
      </p:sp>
      <p:sp>
        <p:nvSpPr>
          <p:cNvPr id="31" name="Text 29"/>
          <p:cNvSpPr/>
          <p:nvPr/>
        </p:nvSpPr>
        <p:spPr>
          <a:xfrm>
            <a:off x="1828800" y="4389120"/>
            <a:ext cx="8531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AI-native infrastructure for the future of creation.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727448" y="4251960"/>
            <a:ext cx="2743200" cy="0"/>
          </a:xfrm>
          <a:prstGeom prst="line">
            <a:avLst/>
          </a:prstGeom>
          <a:noFill/>
          <a:ln w="19050">
            <a:solidFill>
              <a:srgbClr val="2E955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85953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71907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57860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438144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9768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5721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1675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7628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7200"/>
            <a:ext cx="4572000" cy="4572000"/>
          </a:xfrm>
          <a:prstGeom prst="ellipse">
            <a:avLst/>
          </a:prstGeom>
          <a:solidFill>
            <a:srgbClr val="1A3D24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0" y="2743200"/>
            <a:ext cx="3657600" cy="3657600"/>
          </a:xfrm>
          <a:prstGeom prst="ellipse">
            <a:avLst/>
          </a:prstGeom>
          <a:solidFill>
            <a:srgbClr val="2B4A1A">
              <a:alpha val="12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486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8D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to 2045</a:t>
            </a:r>
            <a:endParaRPr lang="en-US" sz="3800" dirty="0"/>
          </a:p>
        </p:txBody>
      </p:sp>
      <p:sp>
        <p:nvSpPr>
          <p:cNvPr id="30" name="Shape 28"/>
          <p:cNvSpPr/>
          <p:nvPr/>
        </p:nvSpPr>
        <p:spPr>
          <a:xfrm>
            <a:off x="914400" y="192024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111111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2240280"/>
            <a:ext cx="109728" cy="109728"/>
          </a:xfrm>
          <a:prstGeom prst="ellipse">
            <a:avLst/>
          </a:prstGeom>
          <a:solidFill>
            <a:srgbClr val="2E955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371600" y="20299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2045, $1,000 will buy compute equivalent to the combined intelligence of all humanity. (Kurzweil, Ray. The Singularity Is Near, 2005)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14400" y="292608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111111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7280" y="3246120"/>
            <a:ext cx="109728" cy="109728"/>
          </a:xfrm>
          <a:prstGeom prst="ellipse">
            <a:avLst/>
          </a:prstGeom>
          <a:solidFill>
            <a:srgbClr val="2E955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371600" y="30358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human merges with AI, interaction latency approaches zero. The boundary between our intent and AI generation dissolves.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14400" y="411480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4114800"/>
            <a:ext cx="4937760" cy="54864"/>
          </a:xfrm>
          <a:prstGeom prst="rect">
            <a:avLst/>
          </a:prstGeom>
          <a:solidFill>
            <a:srgbClr val="2E9551"/>
          </a:solidFill>
          <a:ln/>
        </p:spPr>
      </p:sp>
      <p:sp>
        <p:nvSpPr>
          <p:cNvPr id="38" name="Text 36"/>
          <p:cNvSpPr/>
          <p:nvPr/>
        </p:nvSpPr>
        <p:spPr>
          <a:xfrm>
            <a:off x="1051560" y="4169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44805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biologically limited brains cannot manage the infinite creation that becomes possible. We need new interfaces.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09360" y="4114800"/>
            <a:ext cx="4965192" cy="13716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2700">
            <a:solidFill>
              <a:srgbClr val="78D12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4114800"/>
            <a:ext cx="4965192" cy="54864"/>
          </a:xfrm>
          <a:prstGeom prst="rect">
            <a:avLst/>
          </a:prstGeom>
          <a:solidFill>
            <a:srgbClr val="78D12F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4169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D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URGENCY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446520" y="44805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must build the underlying infrastructure to curate the world's creative assets before the singularity hits.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85953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71907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57860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438144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9768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5721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1675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7628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7200"/>
            <a:ext cx="4572000" cy="4572000"/>
          </a:xfrm>
          <a:prstGeom prst="ellipse">
            <a:avLst/>
          </a:prstGeom>
          <a:solidFill>
            <a:srgbClr val="1A3D24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0" y="2743200"/>
            <a:ext cx="3657600" cy="3657600"/>
          </a:xfrm>
          <a:prstGeom prst="ellipse">
            <a:avLst/>
          </a:prstGeom>
          <a:solidFill>
            <a:srgbClr val="2B4A1A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548640"/>
            <a:ext cx="94457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as gods and might as well get good at it."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1371600" y="18288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Brand, Stewart. Whole Earth Catalog, 1968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4400" y="2377440"/>
            <a:ext cx="10360152" cy="777240"/>
          </a:xfrm>
          <a:prstGeom prst="roundRect">
            <a:avLst>
              <a:gd name="adj" fmla="val 14118"/>
            </a:avLst>
          </a:prstGeom>
          <a:solidFill>
            <a:srgbClr val="111111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7280" y="2679192"/>
            <a:ext cx="109728" cy="109728"/>
          </a:xfrm>
          <a:prstGeom prst="ellipse">
            <a:avLst/>
          </a:prstGeom>
          <a:solidFill>
            <a:srgbClr val="2E955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371600" y="24688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Power: As AI brings infinite compute to our fingertips, humans are gaining god-like creative abilities.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4400" y="3291840"/>
            <a:ext cx="10360152" cy="777240"/>
          </a:xfrm>
          <a:prstGeom prst="roundRect">
            <a:avLst>
              <a:gd name="adj" fmla="val 14118"/>
            </a:avLst>
          </a:prstGeom>
          <a:solidFill>
            <a:srgbClr val="111111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" y="3593592"/>
            <a:ext cx="109728" cy="109728"/>
          </a:xfrm>
          <a:prstGeom prst="ellipse">
            <a:avLst/>
          </a:prstGeom>
          <a:solidFill>
            <a:srgbClr val="2E955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371600" y="33832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Threat: But without the right infrastructure, humans will lose oversight. AI will simply outpace us, and a true Human-AI merge will fail.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14400" y="4389120"/>
            <a:ext cx="10360152" cy="1371600"/>
          </a:xfrm>
          <a:prstGeom prst="roundRect">
            <a:avLst>
              <a:gd name="adj" fmla="val 8000"/>
            </a:avLst>
          </a:prstGeom>
          <a:solidFill>
            <a:srgbClr val="0D2618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1560" y="4251960"/>
            <a:ext cx="2194560" cy="320040"/>
          </a:xfrm>
          <a:prstGeom prst="roundRect">
            <a:avLst>
              <a:gd name="adj" fmla="val 48571"/>
            </a:avLst>
          </a:prstGeom>
          <a:solidFill>
            <a:srgbClr val="1A3D24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560" y="4251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" y="461772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GoGreenlight is the infrastructure that preserves human control. We empower creators to manage this infinite power, replacing chaos with absolute Clarity of Intent.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85953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71907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57860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438144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9768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5721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1675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7628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7200"/>
            <a:ext cx="4572000" cy="4572000"/>
          </a:xfrm>
          <a:prstGeom prst="ellipse">
            <a:avLst/>
          </a:prstGeom>
          <a:solidFill>
            <a:srgbClr val="1A3D24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0" y="2743200"/>
            <a:ext cx="3657600" cy="3657600"/>
          </a:xfrm>
          <a:prstGeom prst="ellipse">
            <a:avLst/>
          </a:prstGeom>
          <a:solidFill>
            <a:srgbClr val="2B4A1A">
              <a:alpha val="12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486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8D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moment. AI meets creative assets.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17373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 in history, AI can truly understand and work with images, video, and audio. This changes everything.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237744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0D2618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2377440"/>
            <a:ext cx="5303520" cy="54864"/>
          </a:xfrm>
          <a:prstGeom prst="rect">
            <a:avLst/>
          </a:prstGeom>
          <a:solidFill>
            <a:srgbClr val="2E9551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2212848"/>
            <a:ext cx="2194560" cy="320040"/>
          </a:xfrm>
          <a:prstGeom prst="roundRect">
            <a:avLst>
              <a:gd name="adj" fmla="val 48571"/>
            </a:avLst>
          </a:prstGeom>
          <a:solidFill>
            <a:srgbClr val="1A3D24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22128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Netflix Parallel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26974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harvested the exponentially cheaper supply of internet bandwidth and disrupted the video industry. GoGreenlight harvests the exponentially cheaper supply of AI-generated creative assets.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2377440"/>
            <a:ext cx="5330952" cy="2103120"/>
          </a:xfrm>
          <a:prstGeom prst="roundRect">
            <a:avLst>
              <a:gd name="adj" fmla="val 5217"/>
            </a:avLst>
          </a:prstGeom>
          <a:solidFill>
            <a:srgbClr val="0D2A10"/>
          </a:solidFill>
          <a:ln w="12700">
            <a:solidFill>
              <a:srgbClr val="78D1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2377440"/>
            <a:ext cx="5330952" cy="54864"/>
          </a:xfrm>
          <a:prstGeom prst="rect">
            <a:avLst/>
          </a:prstGeom>
          <a:solidFill>
            <a:srgbClr val="78D12F"/>
          </a:solidFill>
          <a:ln/>
        </p:spPr>
      </p:sp>
      <p:sp>
        <p:nvSpPr>
          <p:cNvPr id="38" name="Shape 36"/>
          <p:cNvSpPr/>
          <p:nvPr/>
        </p:nvSpPr>
        <p:spPr>
          <a:xfrm>
            <a:off x="6446520" y="2212848"/>
            <a:ext cx="2194560" cy="320040"/>
          </a:xfrm>
          <a:prstGeom prst="roundRect">
            <a:avLst>
              <a:gd name="adj" fmla="val 48571"/>
            </a:avLst>
          </a:prstGeom>
          <a:solidFill>
            <a:srgbClr val="1A3D24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22128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Unique Position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446520" y="26974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capture creative DECISIONS, not content. Users keep their assets. We learn from how they curate creative assets — training AI to augment creative work, all mapped to OMC methodology.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14400" y="470916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0D2618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" y="48463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belongs to creators.  ·  Decisions power the future of AI-augmented creativity.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85953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71907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57860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438144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9768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5721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1675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7628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7200"/>
            <a:ext cx="4572000" cy="4572000"/>
          </a:xfrm>
          <a:prstGeom prst="ellipse">
            <a:avLst/>
          </a:prstGeom>
          <a:solidFill>
            <a:srgbClr val="1A3D24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0" y="2743200"/>
            <a:ext cx="3657600" cy="3657600"/>
          </a:xfrm>
          <a:prstGeom prst="ellipse">
            <a:avLst/>
          </a:prstGeom>
          <a:solidFill>
            <a:srgbClr val="2B4A1A">
              <a:alpha val="12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486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8D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One: Revolutionizing Casting</a:t>
            </a:r>
            <a:endParaRPr lang="en-US" sz="36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17373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the ultimate creative infrastructure, we start with the most complex asset: Human talent and characters.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286000" y="2560320"/>
            <a:ext cx="3200400" cy="594360"/>
          </a:xfrm>
          <a:prstGeom prst="roundRect">
            <a:avLst>
              <a:gd name="adj" fmla="val 18462"/>
            </a:avLst>
          </a:prstGeom>
          <a:solidFill>
            <a:srgbClr val="2E9551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60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Beta is Live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75120" y="2560320"/>
            <a:ext cx="3200400" cy="594360"/>
          </a:xfrm>
          <a:prstGeom prst="roundRect">
            <a:avLst>
              <a:gd name="adj" fmla="val 18462"/>
            </a:avLst>
          </a:prstGeom>
          <a:solidFill>
            <a:srgbClr val="2E9551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2560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Platform Prototype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14400" y="3383280"/>
            <a:ext cx="10360152" cy="13716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2700">
            <a:solidFill>
              <a:srgbClr val="78D12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7280" y="352044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solving the complex curation of actors and roles today, we are building the underlying data engine for all creative assets tomorrow.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270248" y="4983480"/>
            <a:ext cx="3657600" cy="0"/>
          </a:xfrm>
          <a:prstGeom prst="line">
            <a:avLst/>
          </a:prstGeom>
          <a:noFill/>
          <a:ln w="12700">
            <a:solidFill>
              <a:srgbClr val="2E95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074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the World's Creative Assets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85953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71907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57860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438144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9768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5721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1675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7628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7200"/>
            <a:ext cx="4572000" cy="4572000"/>
          </a:xfrm>
          <a:prstGeom prst="ellipse">
            <a:avLst/>
          </a:prstGeom>
          <a:solidFill>
            <a:srgbClr val="1A3D24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0" y="2743200"/>
            <a:ext cx="3657600" cy="3657600"/>
          </a:xfrm>
          <a:prstGeom prst="ellipse">
            <a:avLst/>
          </a:prstGeom>
          <a:solidFill>
            <a:srgbClr val="2B4A1A">
              <a:alpha val="12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486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8D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MovieLabs' 2030 Vision Operational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16916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 structured to survive an exponential future.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14400" y="2286000"/>
            <a:ext cx="10360152" cy="914400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7280" y="2542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A3D24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2542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600200" y="2450592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natively on MovieLabs' Ontology for Media Creation (OMC v2.8) from Day 1.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14400" y="3383280"/>
            <a:ext cx="10360152" cy="914400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0" y="36393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A3D24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" y="3639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600200" y="3547872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mapping our core engine to scale across the entire OMC ontology - starting with Characters and Participants, but built for everything.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4400" y="4526280"/>
            <a:ext cx="10360152" cy="777240"/>
          </a:xfrm>
          <a:prstGeom prst="roundRect">
            <a:avLst>
              <a:gd name="adj" fmla="val 14118"/>
            </a:avLst>
          </a:prstGeom>
          <a:solidFill>
            <a:srgbClr val="0D2618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97280" y="46177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just adopting MovieLabs' 2030 Vision; we are building the execution engine to make it a reality.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001768" y="5532120"/>
            <a:ext cx="2194560" cy="320040"/>
          </a:xfrm>
          <a:prstGeom prst="roundRect">
            <a:avLst>
              <a:gd name="adj" fmla="val 48571"/>
            </a:avLst>
          </a:prstGeom>
          <a:solidFill>
            <a:srgbClr val="1A3D24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01768" y="5532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OMC v2.8 Native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85953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71907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57860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438144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9768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5721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1675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7628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7200"/>
            <a:ext cx="4572000" cy="4572000"/>
          </a:xfrm>
          <a:prstGeom prst="ellipse">
            <a:avLst/>
          </a:prstGeom>
          <a:solidFill>
            <a:srgbClr val="1A3D24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0" y="2743200"/>
            <a:ext cx="3657600" cy="3657600"/>
          </a:xfrm>
          <a:prstGeom prst="ellipse">
            <a:avLst/>
          </a:prstGeom>
          <a:solidFill>
            <a:srgbClr val="2B4A1A">
              <a:alpha val="12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486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8D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 longer the new gold. Intelligence is.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914400" y="16459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want to scrape or own our users' creative content (scripts, videos, IP).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20116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capture the creative decision-making process.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4400" y="23774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natively using the MovieLabs OMC schema, we are building an engine trained on high-level human oversight.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2880360"/>
            <a:ext cx="5303520" cy="2560320"/>
          </a:xfrm>
          <a:prstGeom prst="roundRect">
            <a:avLst>
              <a:gd name="adj" fmla="val 4286"/>
            </a:avLst>
          </a:prstGeom>
          <a:solidFill>
            <a:srgbClr val="0D2618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2880360"/>
            <a:ext cx="5303520" cy="54864"/>
          </a:xfrm>
          <a:prstGeom prst="rect">
            <a:avLst/>
          </a:prstGeom>
          <a:solidFill>
            <a:srgbClr val="2E9551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2715768"/>
            <a:ext cx="2194560" cy="320040"/>
          </a:xfrm>
          <a:prstGeom prst="roundRect">
            <a:avLst>
              <a:gd name="adj" fmla="val 48571"/>
            </a:avLst>
          </a:prstGeom>
          <a:solidFill>
            <a:srgbClr val="1A3D24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2715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320040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"Code-to-AI Compiler". Unlike basic AI wrappers that hallucinate, our system dynamically translates UI structures, codebases, and human creative decisions into machine-readable skills. Built to scale from Film &amp; TV to any industry.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09360" y="2880360"/>
            <a:ext cx="5330952" cy="2560320"/>
          </a:xfrm>
          <a:prstGeom prst="roundRect">
            <a:avLst>
              <a:gd name="adj" fmla="val 4286"/>
            </a:avLst>
          </a:prstGeom>
          <a:solidFill>
            <a:srgbClr val="0D2A10"/>
          </a:solidFill>
          <a:ln w="12700">
            <a:solidFill>
              <a:srgbClr val="78D12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2880360"/>
            <a:ext cx="5330952" cy="54864"/>
          </a:xfrm>
          <a:prstGeom prst="rect">
            <a:avLst/>
          </a:prstGeom>
          <a:solidFill>
            <a:srgbClr val="78D12F"/>
          </a:solidFill>
          <a:ln/>
        </p:spPr>
      </p:sp>
      <p:sp>
        <p:nvSpPr>
          <p:cNvPr id="40" name="Shape 38"/>
          <p:cNvSpPr/>
          <p:nvPr/>
        </p:nvSpPr>
        <p:spPr>
          <a:xfrm>
            <a:off x="6446520" y="2715768"/>
            <a:ext cx="2194560" cy="320040"/>
          </a:xfrm>
          <a:prstGeom prst="roundRect">
            <a:avLst>
              <a:gd name="adj" fmla="val 48571"/>
            </a:avLst>
          </a:prstGeom>
          <a:solidFill>
            <a:srgbClr val="1A3D24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2715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446520" y="320040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integration with MovieLabs OMC v2.8. Every Casting interaction we process today trains the proprietary intelligence engine for tomorrow's Hollywood standard. You can't fake or fast-track this architecture.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001768" y="5669280"/>
            <a:ext cx="2194560" cy="320040"/>
          </a:xfrm>
          <a:prstGeom prst="roundRect">
            <a:avLst>
              <a:gd name="adj" fmla="val 48571"/>
            </a:avLst>
          </a:prstGeom>
          <a:solidFill>
            <a:srgbClr val="1A3D24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01768" y="5669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by Design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85953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71907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57860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438144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9768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5721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1675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7628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7200"/>
            <a:ext cx="4572000" cy="4572000"/>
          </a:xfrm>
          <a:prstGeom prst="ellipse">
            <a:avLst/>
          </a:prstGeom>
          <a:solidFill>
            <a:srgbClr val="1A3D24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0" y="2743200"/>
            <a:ext cx="3657600" cy="3657600"/>
          </a:xfrm>
          <a:prstGeom prst="ellipse">
            <a:avLst/>
          </a:prstGeom>
          <a:solidFill>
            <a:srgbClr val="2B4A1A">
              <a:alpha val="12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486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8D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&amp; TV is Just the Beachhead</a:t>
            </a:r>
            <a:endParaRPr lang="en-US" sz="3800" dirty="0"/>
          </a:p>
        </p:txBody>
      </p:sp>
      <p:sp>
        <p:nvSpPr>
          <p:cNvPr id="30" name="Shape 28"/>
          <p:cNvSpPr/>
          <p:nvPr/>
        </p:nvSpPr>
        <p:spPr>
          <a:xfrm>
            <a:off x="457200" y="1737360"/>
            <a:ext cx="5577840" cy="1920240"/>
          </a:xfrm>
          <a:prstGeom prst="roundRect">
            <a:avLst>
              <a:gd name="adj" fmla="val 5714"/>
            </a:avLst>
          </a:prstGeom>
          <a:solidFill>
            <a:srgbClr val="111111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1737360"/>
            <a:ext cx="5577840" cy="54864"/>
          </a:xfrm>
          <a:prstGeom prst="rect">
            <a:avLst/>
          </a:prstGeom>
          <a:solidFill>
            <a:srgbClr val="2E9551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1920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Proving Ground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233172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with Film &amp; TV because it is the most complex industry for creating and managing entire worlds. If we can solve Hollywood, we can solve anything.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0" y="1737360"/>
            <a:ext cx="5577840" cy="1920240"/>
          </a:xfrm>
          <a:prstGeom prst="roundRect">
            <a:avLst>
              <a:gd name="adj" fmla="val 5714"/>
            </a:avLst>
          </a:prstGeom>
          <a:solidFill>
            <a:srgbClr val="111111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1737360"/>
            <a:ext cx="5577840" cy="54864"/>
          </a:xfrm>
          <a:prstGeom prst="rect">
            <a:avLst/>
          </a:prstGeom>
          <a:solidFill>
            <a:srgbClr val="2E9551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1920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Expansion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233172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GoGreenlight is not just an application; it is an underlying infrastructure platform.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3931920"/>
            <a:ext cx="5577840" cy="1920240"/>
          </a:xfrm>
          <a:prstGeom prst="roundRect">
            <a:avLst>
              <a:gd name="adj" fmla="val 5714"/>
            </a:avLst>
          </a:prstGeom>
          <a:solidFill>
            <a:srgbClr val="111111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931920"/>
            <a:ext cx="5577840" cy="54864"/>
          </a:xfrm>
          <a:prstGeom prst="rect">
            <a:avLst/>
          </a:prstGeom>
          <a:solidFill>
            <a:srgbClr val="2E9551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41148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Goal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452628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license our core ontology and AI-engine to other domains. Imagine a "GoGreenlight for Fashion," "GoGreenlight for Architecture," and eventually for personal creative lives.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00800" y="3931920"/>
            <a:ext cx="5577840" cy="1920240"/>
          </a:xfrm>
          <a:prstGeom prst="roundRect">
            <a:avLst>
              <a:gd name="adj" fmla="val 5714"/>
            </a:avLst>
          </a:prstGeom>
          <a:solidFill>
            <a:srgbClr val="111111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3931920"/>
            <a:ext cx="5577840" cy="54864"/>
          </a:xfrm>
          <a:prstGeom prst="rect">
            <a:avLst/>
          </a:prstGeom>
          <a:solidFill>
            <a:srgbClr val="2E9551"/>
          </a:solidFill>
          <a:ln/>
        </p:spPr>
      </p:sp>
      <p:sp>
        <p:nvSpPr>
          <p:cNvPr id="44" name="Text 42"/>
          <p:cNvSpPr/>
          <p:nvPr/>
        </p:nvSpPr>
        <p:spPr>
          <a:xfrm>
            <a:off x="6537960" y="41148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2045 Imperative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537960" y="452628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by expanding globally across all industries can we truly curate the world's creative assets and be ready for the Singularity.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14400" y="64922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Hollywood to the World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85953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71907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57860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438144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97680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157216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016752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876288"/>
            <a:ext cx="12188952" cy="0"/>
          </a:xfrm>
          <a:prstGeom prst="line">
            <a:avLst/>
          </a:prstGeom>
          <a:noFill/>
          <a:ln w="6350">
            <a:solidFill>
              <a:srgbClr val="1A2E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7200"/>
            <a:ext cx="4572000" cy="4572000"/>
          </a:xfrm>
          <a:prstGeom prst="ellipse">
            <a:avLst/>
          </a:prstGeom>
          <a:solidFill>
            <a:srgbClr val="1A3D24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0" y="2743200"/>
            <a:ext cx="3657600" cy="3657600"/>
          </a:xfrm>
          <a:prstGeom prst="ellipse">
            <a:avLst/>
          </a:prstGeom>
          <a:solidFill>
            <a:srgbClr val="2B4A1A">
              <a:alpha val="12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486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8D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$10M Strategic Ask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16916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 $10M to cross the chasm and establish the global infrastructure for AI creation.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2377440"/>
            <a:ext cx="5577840" cy="1600200"/>
          </a:xfrm>
          <a:prstGeom prst="roundRect">
            <a:avLst>
              <a:gd name="adj" fmla="val 6857"/>
            </a:avLst>
          </a:prstGeom>
          <a:solidFill>
            <a:srgbClr val="111111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377440"/>
            <a:ext cx="5577840" cy="54864"/>
          </a:xfrm>
          <a:prstGeom prst="rect">
            <a:avLst/>
          </a:prstGeom>
          <a:solidFill>
            <a:srgbClr val="2E9551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254203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$1M: AI Infrastructure &amp; Compute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29718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our proprietary Code-to-AI engine.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2377440"/>
            <a:ext cx="5577840" cy="1600200"/>
          </a:xfrm>
          <a:prstGeom prst="roundRect">
            <a:avLst>
              <a:gd name="adj" fmla="val 6857"/>
            </a:avLst>
          </a:prstGeom>
          <a:solidFill>
            <a:srgbClr val="111111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2377440"/>
            <a:ext cx="5577840" cy="54864"/>
          </a:xfrm>
          <a:prstGeom prst="rect">
            <a:avLst/>
          </a:prstGeom>
          <a:solidFill>
            <a:srgbClr val="2E9551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254203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$4M: Platform Abstraction (R&amp;D)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29718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architecture handles Film &amp; TV. These funds abstract the engine for any industry domain.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206240"/>
            <a:ext cx="5577840" cy="1600200"/>
          </a:xfrm>
          <a:prstGeom prst="roundRect">
            <a:avLst>
              <a:gd name="adj" fmla="val 6857"/>
            </a:avLst>
          </a:prstGeom>
          <a:solidFill>
            <a:srgbClr val="111111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206240"/>
            <a:ext cx="5577840" cy="54864"/>
          </a:xfrm>
          <a:prstGeom prst="rect">
            <a:avLst/>
          </a:prstGeom>
          <a:solidFill>
            <a:srgbClr val="2E9551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437083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$2M: Go-To-Market (Enterprise &amp; AI-Automated PLG)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48006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our "Beachhead" by aggressively penetrating Hollywood studios and automating long-tail adoption.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00800" y="4206240"/>
            <a:ext cx="5577840" cy="1600200"/>
          </a:xfrm>
          <a:prstGeom prst="roundRect">
            <a:avLst>
              <a:gd name="adj" fmla="val 6857"/>
            </a:avLst>
          </a:prstGeom>
          <a:solidFill>
            <a:srgbClr val="111111"/>
          </a:solidFill>
          <a:ln w="12700">
            <a:solidFill>
              <a:srgbClr val="2E955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4206240"/>
            <a:ext cx="5577840" cy="54864"/>
          </a:xfrm>
          <a:prstGeom prst="rect">
            <a:avLst/>
          </a:prstGeom>
          <a:solidFill>
            <a:srgbClr val="2E9551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437083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$3M: Strategic Acceleration Fund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537960" y="48006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war chest to scale aggressively at market inflection points.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041648" y="6172200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1A3D24"/>
          </a:solidFill>
          <a:ln w="19050">
            <a:solidFill>
              <a:srgbClr val="2E95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41648" y="6172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8D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  ·  to build the future of creation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2026-03-18T13:16:52Z</dcterms:created>
  <dcterms:modified xsi:type="dcterms:W3CDTF">2026-03-18T13:16:52Z</dcterms:modified>
</cp:coreProperties>
</file>